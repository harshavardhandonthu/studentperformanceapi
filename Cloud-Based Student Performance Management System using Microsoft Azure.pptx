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6"/>
  </p:notesMasterIdLst>
  <p:sldIdLst>
    <p:sldId id="256" r:id="rId3"/>
    <p:sldId id="571" r:id="rId4"/>
    <p:sldId id="572" r:id="rId5"/>
    <p:sldId id="573" r:id="rId6"/>
    <p:sldId id="574" r:id="rId7"/>
    <p:sldId id="575" r:id="rId8"/>
    <p:sldId id="581" r:id="rId9"/>
    <p:sldId id="576" r:id="rId10"/>
    <p:sldId id="582" r:id="rId11"/>
    <p:sldId id="577" r:id="rId12"/>
    <p:sldId id="579" r:id="rId13"/>
    <p:sldId id="578" r:id="rId14"/>
    <p:sldId id="53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B9573-94FF-4129-9981-C12142BFC76F}" v="2" dt="2026-01-19T12:03:28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68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" userId="028943e4e383026c" providerId="LiveId" clId="{51AA07F9-9EFA-4B93-8C48-9EF2D245B359}"/>
    <pc:docChg chg="modSld">
      <pc:chgData name="Harsha Vardhan" userId="028943e4e383026c" providerId="LiveId" clId="{51AA07F9-9EFA-4B93-8C48-9EF2D245B359}" dt="2026-01-19T12:02:55.130" v="31" actId="20577"/>
      <pc:docMkLst>
        <pc:docMk/>
      </pc:docMkLst>
      <pc:sldChg chg="modSp mod">
        <pc:chgData name="Harsha Vardhan" userId="028943e4e383026c" providerId="LiveId" clId="{51AA07F9-9EFA-4B93-8C48-9EF2D245B359}" dt="2026-01-19T12:02:55.130" v="31" actId="20577"/>
        <pc:sldMkLst>
          <pc:docMk/>
          <pc:sldMk cId="58742533" sldId="576"/>
        </pc:sldMkLst>
        <pc:spChg chg="mod">
          <ac:chgData name="Harsha Vardhan" userId="028943e4e383026c" providerId="LiveId" clId="{51AA07F9-9EFA-4B93-8C48-9EF2D245B359}" dt="2026-01-19T12:02:55.130" v="31" actId="20577"/>
          <ac:spMkLst>
            <pc:docMk/>
            <pc:sldMk cId="58742533" sldId="576"/>
            <ac:spMk id="3" creationId="{66102C9B-C4AF-D0DB-DE74-862D9812001C}"/>
          </ac:spMkLst>
        </pc:spChg>
      </pc:sldChg>
      <pc:sldChg chg="modSp mod">
        <pc:chgData name="Harsha Vardhan" userId="028943e4e383026c" providerId="LiveId" clId="{51AA07F9-9EFA-4B93-8C48-9EF2D245B359}" dt="2026-01-19T12:02:25.133" v="8" actId="20577"/>
        <pc:sldMkLst>
          <pc:docMk/>
          <pc:sldMk cId="1691700673" sldId="578"/>
        </pc:sldMkLst>
        <pc:spChg chg="mod">
          <ac:chgData name="Harsha Vardhan" userId="028943e4e383026c" providerId="LiveId" clId="{51AA07F9-9EFA-4B93-8C48-9EF2D245B359}" dt="2026-01-19T12:02:25.133" v="8" actId="20577"/>
          <ac:spMkLst>
            <pc:docMk/>
            <pc:sldMk cId="1691700673" sldId="578"/>
            <ac:spMk id="4" creationId="{1657FF2D-9627-B941-D297-C0203D47C1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avardhandonthu/StudentPerformanceAPI.git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lask.palletsprojects.com/" TargetMode="External"/><Relationship Id="rId2" Type="http://schemas.openxmlformats.org/officeDocument/2006/relationships/hyperlink" Target="https://learn.microsoft.com/azur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python.org/doc/" TargetMode="External"/><Relationship Id="rId4" Type="http://schemas.openxmlformats.org/officeDocument/2006/relationships/hyperlink" Target="https://docs.github.com/action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32185" y="1632273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4400" b="1" dirty="0"/>
              <a:t>Cloud-Based Student Performance Management System using Microsoft Azure</a:t>
            </a:r>
            <a:endParaRPr lang="en-US" sz="4400" dirty="0"/>
          </a:p>
          <a:p>
            <a:pPr algn="l"/>
            <a:endParaRPr lang="en-US" sz="43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577188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/>
              <a:t>Presented By : - </a:t>
            </a:r>
            <a:r>
              <a:rPr lang="en-US" sz="1600" b="1" cap="all" err="1"/>
              <a:t>donthu</a:t>
            </a:r>
            <a:r>
              <a:rPr lang="en-US" sz="1600" b="1" cap="all"/>
              <a:t> </a:t>
            </a:r>
            <a:r>
              <a:rPr lang="en-US" sz="1600" b="1" cap="all" err="1"/>
              <a:t>harshavardhan</a:t>
            </a:r>
            <a:endParaRPr lang="en-US" sz="1600" b="1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Student Name :- </a:t>
            </a:r>
            <a:r>
              <a:rPr lang="en-US" sz="1600" b="1" cap="all" err="1"/>
              <a:t>donthu</a:t>
            </a:r>
            <a:r>
              <a:rPr lang="en-US" sz="1600" b="1" cap="all"/>
              <a:t> </a:t>
            </a:r>
            <a:r>
              <a:rPr lang="en-US" sz="1600" b="1" cap="all" err="1"/>
              <a:t>harshavardhan</a:t>
            </a:r>
            <a:endParaRPr lang="en-US" sz="1600" b="1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College Name :- bits – (</a:t>
            </a:r>
            <a:r>
              <a:rPr lang="en-US" sz="1600" b="1" cap="all" err="1"/>
              <a:t>jntua</a:t>
            </a:r>
            <a:r>
              <a:rPr lang="en-US" sz="1600" b="1" cap="all"/>
              <a:t>) - </a:t>
            </a:r>
            <a:r>
              <a:rPr lang="en-US" sz="1600" b="1" cap="all" err="1"/>
              <a:t>kurnool</a:t>
            </a:r>
            <a:endParaRPr lang="en-US" sz="1600" b="1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Department :- </a:t>
            </a:r>
            <a:r>
              <a:rPr lang="en-US" sz="1600" b="1" cap="all" err="1"/>
              <a:t>cse</a:t>
            </a:r>
            <a:endParaRPr lang="en-US" sz="1600" b="1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Email ID: donthuharsh2004@gmail.com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person with a mustache and a plaid shirt">
            <a:extLst>
              <a:ext uri="{FF2B5EF4-FFF2-40B4-BE49-F238E27FC236}">
                <a16:creationId xmlns:a16="http://schemas.microsoft.com/office/drawing/2014/main" id="{8BAC702B-49CE-0AE3-21F1-6D2A28125F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736" y="268689"/>
            <a:ext cx="4522839" cy="60104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OUTLINE: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Educational institutions often face difficulty in managing, analyzing, and accessing student academic performance data efficiently.</a:t>
            </a:r>
            <a:br>
              <a:rPr lang="en-US" sz="2000" dirty="0"/>
            </a:br>
            <a:r>
              <a:rPr lang="en-US" sz="2000" dirty="0"/>
              <a:t>Traditional systems are manual, error-prone, and lack real-time access, scalability, and data security.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There is a need for a </a:t>
            </a:r>
            <a:r>
              <a:rPr lang="en-US" sz="2000" b="1" dirty="0"/>
              <a:t>cloud-based, centralized system</a:t>
            </a:r>
            <a:r>
              <a:rPr lang="en-US" sz="2000" dirty="0"/>
              <a:t> to store, retrieve, and analyze student performance data securely and efficiently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266031"/>
            <a:ext cx="11328912" cy="54062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proposed system is a </a:t>
            </a:r>
            <a:r>
              <a:rPr lang="en-US" sz="1800" b="1" dirty="0"/>
              <a:t>cloud-based Student Performance Management System</a:t>
            </a:r>
            <a:r>
              <a:rPr lang="en-US" sz="1800" dirty="0"/>
              <a:t> built using </a:t>
            </a:r>
            <a:r>
              <a:rPr lang="en-US" sz="1800" b="1" dirty="0"/>
              <a:t>Microsoft Azure services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It provides a centralized platform to store, manage, and analyze student marks securely.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system enables: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Secure storage of student academic records in </a:t>
            </a:r>
            <a:r>
              <a:rPr lang="en-US" sz="1800" b="1" dirty="0"/>
              <a:t>Azure SQL Database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RESTful API developed using </a:t>
            </a:r>
            <a:r>
              <a:rPr lang="en-US" sz="1800" b="1" dirty="0"/>
              <a:t>Python Flask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Data access and management through a </a:t>
            </a:r>
            <a:r>
              <a:rPr lang="en-US" sz="1800" b="1" dirty="0"/>
              <a:t>web-based dashboard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Cloud deployment using </a:t>
            </a:r>
            <a:r>
              <a:rPr lang="en-US" sz="1800" b="1" dirty="0"/>
              <a:t>Azure App Service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Scalability, reliability, and real-time accessibility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This solution reduces manual effort and improves data accuracy and availability.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381" y="1246195"/>
            <a:ext cx="10515600" cy="5720662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r>
              <a:rPr lang="en-IN" dirty="0"/>
              <a:t>The project follows a </a:t>
            </a:r>
            <a:r>
              <a:rPr lang="en-IN" b="1" dirty="0"/>
              <a:t>modular and cloud-first development approach</a:t>
            </a:r>
            <a:r>
              <a:rPr lang="en-IN" dirty="0"/>
              <a:t>.</a:t>
            </a:r>
          </a:p>
          <a:p>
            <a:r>
              <a:rPr lang="en-IN" b="1" dirty="0"/>
              <a:t>Steps involved:</a:t>
            </a:r>
            <a:endParaRPr lang="en-IN" dirty="0"/>
          </a:p>
          <a:p>
            <a:r>
              <a:rPr lang="en-IN" b="1" dirty="0"/>
              <a:t>Requirement Analysis</a:t>
            </a:r>
            <a:endParaRPr lang="en-IN" dirty="0"/>
          </a:p>
          <a:p>
            <a:pPr lvl="1"/>
            <a:r>
              <a:rPr lang="en-IN" dirty="0"/>
              <a:t>Identify data fields (</a:t>
            </a:r>
            <a:r>
              <a:rPr lang="en-IN" dirty="0" err="1"/>
              <a:t>StudentID</a:t>
            </a:r>
            <a:r>
              <a:rPr lang="en-IN" dirty="0"/>
              <a:t>, Name, Semester, Subject, Marks, </a:t>
            </a:r>
            <a:r>
              <a:rPr lang="en-IN" dirty="0" err="1"/>
              <a:t>TotalMarks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Define functional requirements (CRUD operations, filtering, dashboard access)</a:t>
            </a:r>
          </a:p>
          <a:p>
            <a:r>
              <a:rPr lang="en-IN" b="1" dirty="0"/>
              <a:t>Database Design</a:t>
            </a:r>
            <a:endParaRPr lang="en-IN" dirty="0"/>
          </a:p>
          <a:p>
            <a:pPr lvl="1"/>
            <a:r>
              <a:rPr lang="en-IN" dirty="0"/>
              <a:t>Design relational schema using </a:t>
            </a:r>
            <a:r>
              <a:rPr lang="en-IN" b="1" dirty="0"/>
              <a:t>Azure SQL Database</a:t>
            </a:r>
            <a:endParaRPr lang="en-IN" dirty="0"/>
          </a:p>
          <a:p>
            <a:pPr lvl="1"/>
            <a:r>
              <a:rPr lang="en-IN" dirty="0"/>
              <a:t>Create </a:t>
            </a:r>
            <a:r>
              <a:rPr lang="en-IN" dirty="0" err="1"/>
              <a:t>StudentMarks</a:t>
            </a:r>
            <a:r>
              <a:rPr lang="en-IN" dirty="0"/>
              <a:t> table with appropriate data types</a:t>
            </a:r>
          </a:p>
          <a:p>
            <a:r>
              <a:rPr lang="en-IN" b="1" dirty="0"/>
              <a:t>Backend Development</a:t>
            </a:r>
            <a:endParaRPr lang="en-IN" dirty="0"/>
          </a:p>
          <a:p>
            <a:pPr lvl="1"/>
            <a:r>
              <a:rPr lang="en-IN" dirty="0"/>
              <a:t>Develop REST APIs using </a:t>
            </a:r>
            <a:r>
              <a:rPr lang="en-IN" b="1" dirty="0"/>
              <a:t>Python Flask</a:t>
            </a:r>
            <a:endParaRPr lang="en-IN" dirty="0"/>
          </a:p>
          <a:p>
            <a:pPr lvl="1"/>
            <a:r>
              <a:rPr lang="en-IN" dirty="0"/>
              <a:t>Implement CRUD operations (Add, View, Update, Delete)</a:t>
            </a:r>
          </a:p>
          <a:p>
            <a:pPr lvl="1"/>
            <a:r>
              <a:rPr lang="en-IN" dirty="0"/>
              <a:t>Connect Flask to Azure SQL using </a:t>
            </a:r>
            <a:r>
              <a:rPr lang="en-IN" b="1" dirty="0" err="1"/>
              <a:t>pyodbc</a:t>
            </a:r>
            <a:endParaRPr lang="en-IN" dirty="0"/>
          </a:p>
          <a:p>
            <a:r>
              <a:rPr lang="en-IN" b="1" dirty="0"/>
              <a:t>Frontend Development</a:t>
            </a:r>
            <a:endParaRPr lang="en-IN" dirty="0"/>
          </a:p>
          <a:p>
            <a:pPr lvl="1"/>
            <a:r>
              <a:rPr lang="en-IN" dirty="0"/>
              <a:t>Build simple HTML templates (Login, Dashboard, Add/Edit Student)</a:t>
            </a:r>
          </a:p>
          <a:p>
            <a:pPr lvl="1"/>
            <a:r>
              <a:rPr lang="en-IN" dirty="0"/>
              <a:t>Integrate frontend with backend APIs</a:t>
            </a:r>
          </a:p>
          <a:p>
            <a:r>
              <a:rPr lang="en-IN" b="1" dirty="0"/>
              <a:t>Cloud Integration</a:t>
            </a:r>
            <a:endParaRPr lang="en-IN" dirty="0"/>
          </a:p>
          <a:p>
            <a:pPr lvl="1"/>
            <a:r>
              <a:rPr lang="en-IN" dirty="0"/>
              <a:t>Deploy application on </a:t>
            </a:r>
            <a:r>
              <a:rPr lang="en-IN" b="1" dirty="0"/>
              <a:t>Azure App Service</a:t>
            </a:r>
            <a:endParaRPr lang="en-IN" dirty="0"/>
          </a:p>
          <a:p>
            <a:pPr lvl="1"/>
            <a:r>
              <a:rPr lang="en-IN" dirty="0"/>
              <a:t>Configure environment variables securely</a:t>
            </a:r>
          </a:p>
          <a:p>
            <a:r>
              <a:rPr lang="en-IN" b="1" dirty="0"/>
              <a:t>CI/CD &amp; Deployment</a:t>
            </a:r>
            <a:endParaRPr lang="en-IN" dirty="0"/>
          </a:p>
          <a:p>
            <a:pPr lvl="1"/>
            <a:r>
              <a:rPr lang="en-IN" dirty="0"/>
              <a:t>Source code hosted on </a:t>
            </a:r>
            <a:r>
              <a:rPr lang="en-IN" b="1" dirty="0"/>
              <a:t>GitHub</a:t>
            </a:r>
            <a:endParaRPr lang="en-IN" dirty="0"/>
          </a:p>
          <a:p>
            <a:pPr lvl="1"/>
            <a:r>
              <a:rPr lang="en-IN" dirty="0"/>
              <a:t>Automated deployment using </a:t>
            </a:r>
            <a:r>
              <a:rPr lang="en-IN" b="1" dirty="0"/>
              <a:t>GitHub Actions</a:t>
            </a:r>
            <a:endParaRPr lang="en-IN" dirty="0"/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91709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IN" sz="1600" b="1" dirty="0"/>
              <a:t>Algorithm</a:t>
            </a:r>
          </a:p>
          <a:p>
            <a:r>
              <a:rPr lang="en-IN" sz="1600" dirty="0"/>
              <a:t>The system uses a </a:t>
            </a:r>
            <a:r>
              <a:rPr lang="en-IN" sz="1600" b="1" dirty="0"/>
              <a:t>rule-based data processing approach</a:t>
            </a:r>
            <a:r>
              <a:rPr lang="en-IN" sz="1600" dirty="0"/>
              <a:t> (no ML model).</a:t>
            </a:r>
          </a:p>
          <a:p>
            <a:r>
              <a:rPr lang="en-IN" sz="1600" b="1" dirty="0"/>
              <a:t>Algorithm Flow:</a:t>
            </a:r>
            <a:endParaRPr lang="en-IN" sz="1600" dirty="0"/>
          </a:p>
          <a:p>
            <a:r>
              <a:rPr lang="en-IN" sz="1600" dirty="0"/>
              <a:t>User sends a request (login / add / update / delete / view records)</a:t>
            </a:r>
          </a:p>
          <a:p>
            <a:r>
              <a:rPr lang="en-IN" sz="1600" dirty="0"/>
              <a:t>Flask API validates input data</a:t>
            </a:r>
          </a:p>
          <a:p>
            <a:r>
              <a:rPr lang="en-IN" sz="1600" dirty="0"/>
              <a:t>SQL queries are executed on </a:t>
            </a:r>
            <a:r>
              <a:rPr lang="en-IN" sz="1600" b="1" dirty="0"/>
              <a:t>Azure SQL Database</a:t>
            </a:r>
            <a:endParaRPr lang="en-IN" sz="1600" dirty="0"/>
          </a:p>
          <a:p>
            <a:r>
              <a:rPr lang="en-IN" sz="1600" dirty="0"/>
              <a:t>Retrieved data is processed and formatted</a:t>
            </a:r>
          </a:p>
          <a:p>
            <a:r>
              <a:rPr lang="en-IN" sz="1600" dirty="0"/>
              <a:t>Response is sent back to the frontend/dashboard</a:t>
            </a:r>
          </a:p>
          <a:p>
            <a:r>
              <a:rPr lang="en-IN" sz="1600" b="1" dirty="0"/>
              <a:t>Key Operations:</a:t>
            </a:r>
            <a:endParaRPr lang="en-IN" sz="1600" dirty="0"/>
          </a:p>
          <a:p>
            <a:r>
              <a:rPr lang="en-IN" dirty="0"/>
              <a:t>INSERT</a:t>
            </a:r>
            <a:r>
              <a:rPr lang="en-IN" sz="1600" dirty="0"/>
              <a:t> → Add student marks</a:t>
            </a:r>
          </a:p>
          <a:p>
            <a:r>
              <a:rPr lang="en-IN" dirty="0"/>
              <a:t>SELECT</a:t>
            </a:r>
            <a:r>
              <a:rPr lang="en-IN" sz="1600" dirty="0"/>
              <a:t> → Fetch student records &amp; filters</a:t>
            </a:r>
          </a:p>
          <a:p>
            <a:r>
              <a:rPr lang="en-IN" dirty="0"/>
              <a:t>UPDATE</a:t>
            </a:r>
            <a:r>
              <a:rPr lang="en-IN" sz="1600" dirty="0"/>
              <a:t> → Modify existing records</a:t>
            </a:r>
          </a:p>
          <a:p>
            <a:r>
              <a:rPr lang="en-IN" dirty="0"/>
              <a:t>DELETE</a:t>
            </a:r>
            <a:r>
              <a:rPr lang="en-IN" sz="1600" dirty="0"/>
              <a:t> → Remove records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46261-F85D-6D4E-6B17-83D348C05283}"/>
              </a:ext>
            </a:extLst>
          </p:cNvPr>
          <p:cNvSpPr txBox="1"/>
          <p:nvPr/>
        </p:nvSpPr>
        <p:spPr>
          <a:xfrm>
            <a:off x="427703" y="943897"/>
            <a:ext cx="5363498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Backend deployed on </a:t>
            </a:r>
            <a:r>
              <a:rPr lang="en-IN" b="1" dirty="0"/>
              <a:t>Azure App Service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 hosted on </a:t>
            </a:r>
            <a:r>
              <a:rPr lang="en-IN" b="1" dirty="0"/>
              <a:t>Azure SQL Database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Secure connection via environment variables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CI/CD implemented using </a:t>
            </a:r>
            <a:r>
              <a:rPr lang="en-IN" b="1" dirty="0"/>
              <a:t>GitHub Actions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Application accessible via public Azure 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38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2"/>
            <a:ext cx="10515600" cy="50910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Successfully developed and deployed a </a:t>
            </a:r>
            <a:r>
              <a:rPr lang="en-US" sz="2400" b="1" dirty="0"/>
              <a:t>cloud-based student performance system</a:t>
            </a:r>
            <a:endParaRPr lang="en-US" sz="2400" dirty="0"/>
          </a:p>
          <a:p>
            <a:r>
              <a:rPr lang="en-US" sz="2400" dirty="0"/>
              <a:t>Student data is stored securely in </a:t>
            </a:r>
            <a:r>
              <a:rPr lang="en-US" sz="2400" b="1" dirty="0"/>
              <a:t>Azure SQL Database</a:t>
            </a:r>
            <a:endParaRPr lang="en-US" sz="2400" dirty="0"/>
          </a:p>
          <a:p>
            <a:r>
              <a:rPr lang="en-US" sz="2400" dirty="0"/>
              <a:t>Users can </a:t>
            </a:r>
            <a:r>
              <a:rPr lang="en-US" sz="2400" b="1" dirty="0"/>
              <a:t>add, view, update, and delete</a:t>
            </a:r>
            <a:r>
              <a:rPr lang="en-US" sz="2400" dirty="0"/>
              <a:t> student marks through the web interface</a:t>
            </a:r>
          </a:p>
          <a:p>
            <a:r>
              <a:rPr lang="en-US" sz="2400" dirty="0"/>
              <a:t>REST APIs respond in real time with accurate data</a:t>
            </a:r>
          </a:p>
          <a:p>
            <a:r>
              <a:rPr lang="en-US" sz="2400" dirty="0"/>
              <a:t>Application is accessible globally using an </a:t>
            </a:r>
            <a:r>
              <a:rPr lang="en-US" sz="2400" b="1" dirty="0"/>
              <a:t>Azure-hosted URL</a:t>
            </a:r>
            <a:endParaRPr lang="en-US" sz="2400" dirty="0"/>
          </a:p>
          <a:p>
            <a:r>
              <a:rPr lang="en-US" sz="2400" dirty="0"/>
              <a:t>GitHub-based deployment ensures smooth updates and version control</a:t>
            </a:r>
          </a:p>
          <a:p>
            <a:pPr marL="0" indent="0">
              <a:buNone/>
            </a:pPr>
            <a:r>
              <a:rPr lang="en-US" sz="2400" dirty="0"/>
              <a:t>The system works reliably with proper authentication and database connectivity.</a:t>
            </a:r>
          </a:p>
          <a:p>
            <a:pPr marL="0" indent="0">
              <a:buNone/>
            </a:pPr>
            <a:r>
              <a:rPr lang="en-US" sz="2400" dirty="0"/>
              <a:t>Git Hub repo </a:t>
            </a:r>
            <a:r>
              <a:rPr lang="en-US" sz="2400" dirty="0" err="1"/>
              <a:t>link:</a:t>
            </a:r>
            <a:r>
              <a:rPr lang="en-US" sz="2400" dirty="0" err="1">
                <a:hlinkClick r:id="rId2"/>
              </a:rPr>
              <a:t>https</a:t>
            </a:r>
            <a:r>
              <a:rPr lang="en-US" sz="2400" dirty="0">
                <a:hlinkClick r:id="rId2"/>
              </a:rPr>
              <a:t>://github.com/</a:t>
            </a:r>
            <a:r>
              <a:rPr lang="en-US" sz="2400" dirty="0" err="1">
                <a:hlinkClick r:id="rId2"/>
              </a:rPr>
              <a:t>Harshavardhandonthu</a:t>
            </a:r>
            <a:r>
              <a:rPr lang="en-US" sz="2400" dirty="0">
                <a:hlinkClick r:id="rId2"/>
              </a:rPr>
              <a:t>/</a:t>
            </a:r>
            <a:r>
              <a:rPr lang="en-US" sz="2400">
                <a:hlinkClick r:id="rId2"/>
              </a:rPr>
              <a:t>StudentPerformanceAPI.git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36442D-A79A-08A1-7D91-34EC0151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60" y="856343"/>
            <a:ext cx="11049153" cy="557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1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0"/>
            <a:ext cx="10515600" cy="4629275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400" dirty="0"/>
              <a:t>The Cloud-Based Student Performance Management System successfully demonstrates the use of </a:t>
            </a:r>
            <a:r>
              <a:rPr lang="en-US" sz="2400" b="1" dirty="0"/>
              <a:t>Microsoft Azure</a:t>
            </a:r>
            <a:r>
              <a:rPr lang="en-US" sz="2400" dirty="0"/>
              <a:t> for building and deploying a scalable web application.</a:t>
            </a:r>
            <a:br>
              <a:rPr lang="en-US" sz="2400" dirty="0"/>
            </a:br>
            <a:r>
              <a:rPr lang="en-US" sz="2400" dirty="0"/>
              <a:t>By integrating </a:t>
            </a:r>
            <a:r>
              <a:rPr lang="en-US" sz="2400" b="1" dirty="0"/>
              <a:t>Flask</a:t>
            </a:r>
            <a:r>
              <a:rPr lang="en-US" sz="2400" dirty="0"/>
              <a:t>, </a:t>
            </a:r>
            <a:r>
              <a:rPr lang="en-US" sz="2400" b="1" dirty="0"/>
              <a:t>Azure SQL Database</a:t>
            </a:r>
            <a:r>
              <a:rPr lang="en-US" sz="2400" dirty="0"/>
              <a:t>, and </a:t>
            </a:r>
            <a:r>
              <a:rPr lang="en-US" sz="2400" b="1" dirty="0"/>
              <a:t>Azure App Service</a:t>
            </a:r>
            <a:r>
              <a:rPr lang="en-US" sz="2400" dirty="0"/>
              <a:t>, the system provides secure and efficient management of student academic data.</a:t>
            </a:r>
          </a:p>
          <a:p>
            <a:r>
              <a:rPr lang="en-US" sz="2400" dirty="0"/>
              <a:t>The project highlights practical knowledge of:</a:t>
            </a:r>
          </a:p>
          <a:p>
            <a:r>
              <a:rPr lang="en-US" sz="2400" dirty="0"/>
              <a:t>Cloud computing concepts</a:t>
            </a:r>
          </a:p>
          <a:p>
            <a:r>
              <a:rPr lang="en-US" sz="2400" dirty="0"/>
              <a:t>Backend development</a:t>
            </a:r>
          </a:p>
          <a:p>
            <a:r>
              <a:rPr lang="en-US" sz="2400" dirty="0"/>
              <a:t>Database management</a:t>
            </a:r>
          </a:p>
          <a:p>
            <a:r>
              <a:rPr lang="en-US" sz="2400" dirty="0"/>
              <a:t>CI/CD deployment using GitHub</a:t>
            </a:r>
          </a:p>
          <a:p>
            <a:r>
              <a:rPr lang="en-US" sz="2400" dirty="0"/>
              <a:t>Overall, the solution meets the project objectives and provides a reliable cloud-based data management platform.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4410E8-BBD6-88F7-AE96-AEB768E12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557" y="1508249"/>
            <a:ext cx="9539389" cy="384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system can be further enhanced with the following features:</a:t>
            </a:r>
          </a:p>
          <a:p>
            <a:r>
              <a:rPr lang="en-US" sz="2000" dirty="0"/>
              <a:t>Role-based authentication for </a:t>
            </a:r>
            <a:r>
              <a:rPr lang="en-US" sz="2000" b="1" dirty="0"/>
              <a:t>Admin, Faculty, and Students</a:t>
            </a:r>
            <a:endParaRPr lang="en-US" sz="2000" dirty="0"/>
          </a:p>
          <a:p>
            <a:r>
              <a:rPr lang="en-US" sz="2000" dirty="0"/>
              <a:t>Advanced analytics and visualization using </a:t>
            </a:r>
            <a:r>
              <a:rPr lang="en-US" sz="2000" b="1" dirty="0"/>
              <a:t>Power BI</a:t>
            </a:r>
            <a:endParaRPr lang="en-US" sz="2000" dirty="0"/>
          </a:p>
          <a:p>
            <a:r>
              <a:rPr lang="en-US" sz="2000" dirty="0"/>
              <a:t>Export reports in </a:t>
            </a:r>
            <a:r>
              <a:rPr lang="en-US" sz="2000" b="1" dirty="0"/>
              <a:t>PDF or Excel</a:t>
            </a:r>
            <a:r>
              <a:rPr lang="en-US" sz="2000" dirty="0"/>
              <a:t> format</a:t>
            </a:r>
          </a:p>
          <a:p>
            <a:r>
              <a:rPr lang="en-US" sz="2000" dirty="0"/>
              <a:t>Integration of </a:t>
            </a:r>
            <a:r>
              <a:rPr lang="en-US" sz="2000" b="1" dirty="0"/>
              <a:t>machine learning</a:t>
            </a:r>
            <a:r>
              <a:rPr lang="en-US" sz="2000" dirty="0"/>
              <a:t> for performance prediction</a:t>
            </a:r>
          </a:p>
          <a:p>
            <a:r>
              <a:rPr lang="en-US" sz="2000" dirty="0"/>
              <a:t>Mobile-friendly user interface</a:t>
            </a:r>
          </a:p>
          <a:p>
            <a:r>
              <a:rPr lang="en-US" sz="2000" dirty="0"/>
              <a:t>Deployment using </a:t>
            </a:r>
            <a:r>
              <a:rPr lang="en-US" sz="2000" b="1" dirty="0"/>
              <a:t>Docker and Azure Container Services</a:t>
            </a:r>
            <a:endParaRPr lang="en-US" sz="2000" dirty="0"/>
          </a:p>
          <a:p>
            <a:r>
              <a:rPr lang="en-US" sz="2000" dirty="0"/>
              <a:t>These enhancements will improve scalability, usability, and analytical capabilities.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430594"/>
            <a:ext cx="10515600" cy="43724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u="sng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>
              <a:latin typeface="Franklin Gothic Boo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45544-0A8A-5708-3020-4AA3F7BC19C0}"/>
              </a:ext>
            </a:extLst>
          </p:cNvPr>
          <p:cNvSpPr txBox="1"/>
          <p:nvPr/>
        </p:nvSpPr>
        <p:spPr>
          <a:xfrm rot="10800000">
            <a:off x="884901" y="4498257"/>
            <a:ext cx="9615401" cy="22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7FF2D-9627-B941-D297-C0203D47C1A7}"/>
              </a:ext>
            </a:extLst>
          </p:cNvPr>
          <p:cNvSpPr txBox="1"/>
          <p:nvPr/>
        </p:nvSpPr>
        <p:spPr>
          <a:xfrm>
            <a:off x="522514" y="1430594"/>
            <a:ext cx="107845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Microsoft Azure Documentation</a:t>
            </a:r>
            <a:br>
              <a:rPr lang="en-IN" dirty="0"/>
            </a:br>
            <a:r>
              <a:rPr lang="en-IN" dirty="0">
                <a:hlinkClick r:id="rId2"/>
              </a:rPr>
              <a:t>https://learn.microsoft.com/azure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Flask Official Documentation</a:t>
            </a:r>
            <a:br>
              <a:rPr lang="en-IN" dirty="0"/>
            </a:br>
            <a:r>
              <a:rPr lang="en-IN" dirty="0">
                <a:hlinkClick r:id="rId3"/>
              </a:rPr>
              <a:t>https://flask.palletsprojects.com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Azure SQL Database Documentation</a:t>
            </a:r>
            <a:br>
              <a:rPr lang="en-IN" dirty="0"/>
            </a:br>
            <a:r>
              <a:rPr lang="en-IN" dirty="0"/>
              <a:t>https://learn.microsoft.com/azure/azure-sql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GitHub Actions Documentation</a:t>
            </a:r>
            <a:br>
              <a:rPr lang="en-IN" dirty="0"/>
            </a:br>
            <a:r>
              <a:rPr lang="en-IN" dirty="0">
                <a:hlinkClick r:id="rId4"/>
              </a:rPr>
              <a:t>https://docs.github.com/actions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Python Official Documentation</a:t>
            </a:r>
            <a:br>
              <a:rPr lang="en-IN" dirty="0"/>
            </a:br>
            <a:r>
              <a:rPr lang="en-IN" dirty="0">
                <a:hlinkClick r:id="rId5"/>
              </a:rPr>
              <a:t>https://www.python.org/doc/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785</Words>
  <Application>Microsoft Office PowerPoint</Application>
  <PresentationFormat>Widescreen</PresentationFormat>
  <Paragraphs>105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PowerPoint Presentation</vt:lpstr>
      <vt:lpstr>Result:</vt:lpstr>
      <vt:lpstr>PowerPoint Presentation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Harsha Vardhan</cp:lastModifiedBy>
  <cp:revision>1</cp:revision>
  <dcterms:created xsi:type="dcterms:W3CDTF">2024-05-21T11:55:07Z</dcterms:created>
  <dcterms:modified xsi:type="dcterms:W3CDTF">2026-01-19T12:03:37Z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